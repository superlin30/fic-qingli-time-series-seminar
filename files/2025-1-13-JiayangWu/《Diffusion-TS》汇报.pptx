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23"/>
  </p:handoutMasterIdLst>
  <p:sldIdLst>
    <p:sldId id="403" r:id="rId3"/>
    <p:sldId id="453" r:id="rId4"/>
    <p:sldId id="455" r:id="rId5"/>
    <p:sldId id="463" r:id="rId6"/>
    <p:sldId id="464" r:id="rId7"/>
    <p:sldId id="472" r:id="rId8"/>
    <p:sldId id="456" r:id="rId10"/>
    <p:sldId id="465" r:id="rId11"/>
    <p:sldId id="457" r:id="rId12"/>
    <p:sldId id="466" r:id="rId13"/>
    <p:sldId id="467" r:id="rId14"/>
    <p:sldId id="468" r:id="rId15"/>
    <p:sldId id="469" r:id="rId16"/>
    <p:sldId id="470" r:id="rId17"/>
    <p:sldId id="458" r:id="rId18"/>
    <p:sldId id="473" r:id="rId19"/>
    <p:sldId id="474" r:id="rId20"/>
    <p:sldId id="475" r:id="rId21"/>
    <p:sldId id="269" r:id="rId22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6" userDrawn="1">
          <p15:clr>
            <a:srgbClr val="A4A3A4"/>
          </p15:clr>
        </p15:guide>
        <p15:guide id="2" pos="389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熊 林博" initials="熊林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96CF"/>
    <a:srgbClr val="006EBE"/>
    <a:srgbClr val="8DDEE3"/>
    <a:srgbClr val="E29C5C"/>
    <a:srgbClr val="33CCCC"/>
    <a:srgbClr val="DF9FDC"/>
    <a:srgbClr val="E9753B"/>
    <a:srgbClr val="FBECA3"/>
    <a:srgbClr val="F6D4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99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912" y="1288"/>
      </p:cViewPr>
      <p:guideLst>
        <p:guide orient="horz" pos="2086"/>
        <p:guide pos="389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/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73" b="21529"/>
          <a:stretch>
            <a:fillRect/>
          </a:stretch>
        </p:blipFill>
        <p:spPr>
          <a:xfrm>
            <a:off x="0" y="0"/>
            <a:ext cx="12192000" cy="38862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3860800"/>
            <a:ext cx="12192000" cy="299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0" y="0"/>
            <a:ext cx="12192000" cy="38608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63" y="397256"/>
            <a:ext cx="2440437" cy="579888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3850105"/>
            <a:ext cx="12192000" cy="866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209104" y="171996"/>
            <a:ext cx="11741596" cy="64881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，</a:t>
            </a:r>
            <a:endParaRPr lang="zh-CN" altLang="en-US" dirty="0"/>
          </a:p>
        </p:txBody>
      </p:sp>
      <p:sp>
        <p:nvSpPr>
          <p:cNvPr id="9" name="TextBox 64"/>
          <p:cNvSpPr txBox="1"/>
          <p:nvPr userDrawn="1"/>
        </p:nvSpPr>
        <p:spPr>
          <a:xfrm>
            <a:off x="1271964" y="574328"/>
            <a:ext cx="1598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200" b="1" spc="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6" y="519765"/>
            <a:ext cx="759594" cy="7595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209104" y="171996"/>
            <a:ext cx="11741596" cy="64881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，</a:t>
            </a:r>
            <a:endParaRPr lang="zh-CN" altLang="en-US" dirty="0"/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6" y="519765"/>
            <a:ext cx="759594" cy="7595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209104" y="171996"/>
            <a:ext cx="11741596" cy="64881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，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66" y="519765"/>
            <a:ext cx="759594" cy="75959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0212" y="576882"/>
            <a:ext cx="10515600" cy="578151"/>
          </a:xfrm>
        </p:spPr>
        <p:txBody>
          <a:bodyPr>
            <a:noAutofit/>
          </a:bodyPr>
          <a:lstStyle>
            <a:lvl1pPr>
              <a:defRPr sz="3200" b="1" spc="6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4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A119D-C314-461B-BF30-7B6B737DD0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25299-E1BE-4AFB-9822-8A19A699F45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20340"/>
            <a:ext cx="12192635" cy="1417320"/>
          </a:xfrm>
          <a:prstGeom prst="rect">
            <a:avLst/>
          </a:prstGeom>
        </p:spPr>
      </p:pic>
      <p:sp>
        <p:nvSpPr>
          <p:cNvPr id="2" name="TextBox 4"/>
          <p:cNvSpPr txBox="1"/>
          <p:nvPr/>
        </p:nvSpPr>
        <p:spPr>
          <a:xfrm>
            <a:off x="445266" y="2898256"/>
            <a:ext cx="1134999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Times New Roman" panose="02020503050405090304" pitchFamily="18" charset="0"/>
                <a:ea typeface="HGB8_CNKI" pitchFamily="2" charset="-122"/>
                <a:cs typeface="Times New Roman" panose="02020503050405090304" pitchFamily="18" charset="0"/>
              </a:rPr>
              <a:t>Diffusion-TS: Interpretable Diffusion for</a:t>
            </a:r>
            <a:endParaRPr lang="en-US" altLang="zh-CN" sz="4400" b="1" dirty="0">
              <a:solidFill>
                <a:schemeClr val="bg1"/>
              </a:solidFill>
              <a:latin typeface="Times New Roman" panose="02020503050405090304" pitchFamily="18" charset="0"/>
              <a:ea typeface="HGB8_CNKI" pitchFamily="2" charset="-122"/>
              <a:cs typeface="Times New Roman" panose="02020503050405090304" pitchFamily="18" charset="0"/>
            </a:endParaRPr>
          </a:p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Times New Roman" panose="02020503050405090304" pitchFamily="18" charset="0"/>
                <a:ea typeface="HGB8_CNKI" pitchFamily="2" charset="-122"/>
                <a:cs typeface="Times New Roman" panose="02020503050405090304" pitchFamily="18" charset="0"/>
              </a:rPr>
              <a:t>Genaral Time Series Generation</a:t>
            </a:r>
            <a:endParaRPr lang="en-US" altLang="zh-CN" sz="4400" b="1" dirty="0">
              <a:solidFill>
                <a:schemeClr val="bg1"/>
              </a:solidFill>
              <a:latin typeface="Times New Roman" panose="02020503050405090304" pitchFamily="18" charset="0"/>
              <a:ea typeface="HGB8_CNKI" pitchFamily="2" charset="-122"/>
              <a:cs typeface="Times New Roman" panose="02020503050405090304" pitchFamily="18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502920" y="4304473"/>
            <a:ext cx="11127105" cy="1079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03051" y="4544483"/>
            <a:ext cx="1129220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0" i="0" u="none" strike="noStrike" baseline="0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汇报人：</a:t>
            </a:r>
            <a:r>
              <a:rPr lang="zh-CN" altLang="en-US" sz="2000" b="0" i="0" u="none" strike="noStrike" baseline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吴佳阳</a:t>
            </a:r>
            <a:endParaRPr lang="zh-CN" altLang="en-US" sz="2000" b="0" i="0" u="none" strike="noStrike" baseline="0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49249" y="5145001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2026.1.13</a:t>
            </a:r>
            <a:endParaRPr lang="en-US" altLang="zh-CN" sz="2000" dirty="0">
              <a:solidFill>
                <a:schemeClr val="bg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76146" y="743941"/>
            <a:ext cx="11039707" cy="1583189"/>
            <a:chOff x="576146" y="743941"/>
            <a:chExt cx="11039707" cy="1583189"/>
          </a:xfrm>
        </p:grpSpPr>
        <p:sp>
          <p:nvSpPr>
            <p:cNvPr id="2" name="TextBox 1"/>
            <p:cNvSpPr txBox="1"/>
            <p:nvPr/>
          </p:nvSpPr>
          <p:spPr>
            <a:xfrm>
              <a:off x="1283895" y="743941"/>
              <a:ext cx="72467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611120" y="1193165"/>
              <a:ext cx="7431405" cy="11339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0" algn="just">
                <a:lnSpc>
                  <a:spcPct val="150000"/>
                </a:lnSpc>
                <a:buFont typeface="Arial" panose="020B0604020202090204" pitchFamily="34" charset="0"/>
                <a:buNone/>
              </a:pPr>
              <a:endPara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 indent="0" algn="just">
                <a:lnSpc>
                  <a:spcPct val="150000"/>
                </a:lnSpc>
                <a:buFont typeface="Arial" panose="020B0604020202090204" pitchFamily="34" charset="0"/>
                <a:buNone/>
              </a:pPr>
              <a:endPara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76146" y="1371600"/>
              <a:ext cx="1103970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1283895" y="783887"/>
            <a:ext cx="9882716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Diffusion-TS: Interpretable Diffusion for Genaral Time Series Generation</a:t>
            </a:r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500638" y="1446281"/>
            <a:ext cx="51477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ICLR 2024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" y="2109470"/>
            <a:ext cx="11417300" cy="3251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1.</a:t>
              </a:r>
              <a:r>
                <a:rPr lang="zh-CN" altLang="en-US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扩散模型基础</a:t>
              </a:r>
              <a:r>
                <a:rPr lang="zh-CN" altLang="en-US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引入</a:t>
              </a:r>
              <a:endParaRPr lang="zh-CN" altLang="en-US" sz="2800" b="1" dirty="0">
                <a:solidFill>
                  <a:srgbClr val="006EBE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198245" y="1583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Forward Process:</a:t>
            </a:r>
            <a:endParaRPr lang="en-US" altLang="zh-CN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245" y="1951355"/>
            <a:ext cx="9563100" cy="2390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1.</a:t>
              </a:r>
              <a:r>
                <a:rPr lang="zh-CN" altLang="en-US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扩散模型基础</a:t>
              </a:r>
              <a:r>
                <a:rPr lang="zh-CN" altLang="en-US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引入</a:t>
              </a:r>
              <a:endParaRPr lang="zh-CN" altLang="en-US" sz="2800" b="1" dirty="0">
                <a:solidFill>
                  <a:srgbClr val="006EBE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198245" y="1583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Reverse Process: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110" y="1951990"/>
            <a:ext cx="6186170" cy="24244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230" y="4376420"/>
            <a:ext cx="4645660" cy="2033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1.</a:t>
              </a:r>
              <a:r>
                <a:rPr lang="zh-CN" altLang="en-US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扩散模型基础</a:t>
              </a:r>
              <a:r>
                <a:rPr lang="zh-CN" altLang="en-US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引入</a:t>
              </a:r>
              <a:endParaRPr lang="zh-CN" altLang="en-US" sz="2800" b="1" dirty="0">
                <a:solidFill>
                  <a:srgbClr val="006EBE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198245" y="1583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Training Process: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245" y="2136775"/>
            <a:ext cx="7561580" cy="39884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320" y="2062480"/>
            <a:ext cx="1305560" cy="8051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220" y="3232785"/>
            <a:ext cx="1305560" cy="8051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855" y="4916805"/>
            <a:ext cx="1305560" cy="8051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l="-37" t="-174" r="27" b="73"/>
          <a:stretch>
            <a:fillRect/>
          </a:stretch>
        </p:blipFill>
        <p:spPr>
          <a:xfrm>
            <a:off x="626110" y="6864350"/>
            <a:ext cx="10673080" cy="59524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900" y="6858000"/>
            <a:ext cx="2324100" cy="18923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775" y="1558290"/>
            <a:ext cx="2757170" cy="49339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1795" y="2136775"/>
            <a:ext cx="3899535" cy="654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1.</a:t>
              </a:r>
              <a:r>
                <a:rPr lang="zh-CN" altLang="en-US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扩散模型基础</a:t>
              </a:r>
              <a:r>
                <a:rPr lang="zh-CN" altLang="en-US" sz="2800" b="1" dirty="0">
                  <a:solidFill>
                    <a:srgbClr val="006EBE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引入</a:t>
              </a:r>
              <a:endParaRPr lang="zh-CN" altLang="en-US" sz="2800" b="1" dirty="0">
                <a:solidFill>
                  <a:srgbClr val="006EBE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1198245" y="1583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Generation Process:</a:t>
            </a:r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 l="-37" t="-174" r="27" b="73"/>
          <a:stretch>
            <a:fillRect/>
          </a:stretch>
        </p:blipFill>
        <p:spPr>
          <a:xfrm>
            <a:off x="626110" y="6864350"/>
            <a:ext cx="10673080" cy="59524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0" y="6858000"/>
            <a:ext cx="2324100" cy="1892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595" y="2136775"/>
            <a:ext cx="9770745" cy="29578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95" y="5525770"/>
            <a:ext cx="4519295" cy="8058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110" y="12816840"/>
            <a:ext cx="10672445" cy="5748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2.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问题与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直觉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/>
          <p:cNvSpPr txBox="1"/>
          <p:nvPr/>
        </p:nvSpPr>
        <p:spPr>
          <a:xfrm>
            <a:off x="879021" y="1685274"/>
            <a:ext cx="10435772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a.</a:t>
            </a:r>
            <a:r>
              <a:rPr lang="zh-CN" altLang="en-US" sz="2400" dirty="0">
                <a:solidFill>
                  <a:schemeClr val="tx1"/>
                </a:solidFill>
              </a:rPr>
              <a:t>数据隐私和获取困难阻碍了机器学习方案的发展</a:t>
            </a:r>
            <a:r>
              <a:rPr lang="en-US" altLang="zh-CN" sz="2400" dirty="0">
                <a:solidFill>
                  <a:schemeClr val="tx1"/>
                </a:solidFill>
              </a:rPr>
              <a:t> ,</a:t>
            </a:r>
            <a:r>
              <a:rPr lang="zh-CN" altLang="en-US" sz="2400" dirty="0">
                <a:solidFill>
                  <a:srgbClr val="C00000"/>
                </a:solidFill>
              </a:rPr>
              <a:t>合成现实的时间序列数据</a:t>
            </a:r>
            <a:r>
              <a:rPr lang="zh-CN" altLang="en-US" sz="2400" dirty="0">
                <a:solidFill>
                  <a:schemeClr val="tx1"/>
                </a:solidFill>
              </a:rPr>
              <a:t>是一个有前景的解决方案</a:t>
            </a:r>
            <a:endParaRPr lang="zh-CN" altLang="en-US" sz="2400" dirty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b.</a:t>
            </a:r>
            <a:r>
              <a:rPr lang="zh-CN" altLang="en-US" sz="2400" dirty="0">
                <a:solidFill>
                  <a:schemeClr val="tx1"/>
                </a:solidFill>
              </a:rPr>
              <a:t>现有的扩散方法大多是任务无关的（如仅用于插补），或者使用</a:t>
            </a:r>
            <a:r>
              <a:rPr lang="en-US" altLang="zh-CN" sz="2400" dirty="0">
                <a:solidFill>
                  <a:schemeClr val="tx1"/>
                </a:solidFill>
              </a:rPr>
              <a:t> RNN </a:t>
            </a:r>
            <a:r>
              <a:rPr lang="zh-CN" altLang="en-US" sz="2400" dirty="0">
                <a:solidFill>
                  <a:schemeClr val="tx1"/>
                </a:solidFill>
              </a:rPr>
              <a:t>作为骨干网络，导致</a:t>
            </a:r>
            <a:r>
              <a:rPr lang="zh-CN" altLang="en-US" sz="2400" dirty="0">
                <a:solidFill>
                  <a:srgbClr val="C00000"/>
                </a:solidFill>
              </a:rPr>
              <a:t>长序列性能受限且推理速度慢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endParaRPr lang="zh-CN" altLang="en-US" sz="2400" dirty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c.</a:t>
            </a:r>
            <a:r>
              <a:rPr lang="zh-CN" altLang="en-US" sz="2400" dirty="0">
                <a:solidFill>
                  <a:schemeClr val="tx1"/>
                </a:solidFill>
              </a:rPr>
              <a:t>现实世界时间序列中包含的</a:t>
            </a:r>
            <a:r>
              <a:rPr lang="zh-CN" altLang="en-US" sz="2400" dirty="0">
                <a:solidFill>
                  <a:srgbClr val="C00000"/>
                </a:solidFill>
              </a:rPr>
              <a:t>趋势、季节性</a:t>
            </a:r>
            <a:r>
              <a:rPr lang="zh-CN" altLang="en-US" sz="2400" dirty="0">
                <a:solidFill>
                  <a:schemeClr val="tx1"/>
                </a:solidFill>
              </a:rPr>
              <a:t>等独立成分的组合，通常会在扩散过程中因逐渐加噪而</a:t>
            </a:r>
            <a:r>
              <a:rPr lang="zh-CN" altLang="en-US" sz="2400" dirty="0">
                <a:solidFill>
                  <a:srgbClr val="C00000"/>
                </a:solidFill>
              </a:rPr>
              <a:t>被破坏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endParaRPr lang="zh-CN" altLang="en-US" sz="2400" dirty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</a:rPr>
              <a:t>d.</a:t>
            </a:r>
            <a:r>
              <a:rPr lang="zh-CN" altLang="en-US" sz="2400" dirty="0">
                <a:solidFill>
                  <a:schemeClr val="tx1"/>
                </a:solidFill>
              </a:rPr>
              <a:t>现有方法</a:t>
            </a:r>
            <a:r>
              <a:rPr lang="zh-CN" altLang="en-US" sz="2400" dirty="0">
                <a:solidFill>
                  <a:srgbClr val="C00000"/>
                </a:solidFill>
              </a:rPr>
              <a:t>缺乏捕捉周期性的归纳偏置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Inductive Bias</a:t>
            </a:r>
            <a:r>
              <a:rPr lang="zh-CN" altLang="en-US" sz="2400" dirty="0">
                <a:solidFill>
                  <a:schemeClr val="tx1"/>
                </a:solidFill>
              </a:rPr>
              <a:t>），且</a:t>
            </a:r>
            <a:r>
              <a:rPr lang="zh-CN" altLang="en-US" sz="2400" dirty="0">
                <a:solidFill>
                  <a:srgbClr val="C00000"/>
                </a:solidFill>
              </a:rPr>
              <a:t>缺乏可解释性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2.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问题与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直觉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/>
          <p:cNvSpPr txBox="1"/>
          <p:nvPr/>
        </p:nvSpPr>
        <p:spPr>
          <a:xfrm>
            <a:off x="878840" y="1685290"/>
            <a:ext cx="10452100" cy="2282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solidFill>
                  <a:schemeClr val="tx1"/>
                </a:solidFill>
              </a:rPr>
              <a:t>时间序列可以分解为</a:t>
            </a:r>
            <a:r>
              <a:rPr lang="zh-CN" altLang="en-US" sz="2400" dirty="0">
                <a:solidFill>
                  <a:srgbClr val="C00000"/>
                </a:solidFill>
              </a:rPr>
              <a:t>趋势（</a:t>
            </a:r>
            <a:r>
              <a:rPr lang="en-US" altLang="zh-CN" sz="2400" dirty="0">
                <a:solidFill>
                  <a:srgbClr val="C00000"/>
                </a:solidFill>
              </a:rPr>
              <a:t>Trend</a:t>
            </a:r>
            <a:r>
              <a:rPr lang="zh-CN" altLang="en-US" sz="2400" dirty="0">
                <a:solidFill>
                  <a:srgbClr val="C00000"/>
                </a:solidFill>
              </a:rPr>
              <a:t>）、季节性（</a:t>
            </a:r>
            <a:r>
              <a:rPr lang="en-US" altLang="zh-CN" sz="2400" dirty="0">
                <a:solidFill>
                  <a:srgbClr val="C00000"/>
                </a:solidFill>
              </a:rPr>
              <a:t>Seasonality</a:t>
            </a:r>
            <a:r>
              <a:rPr lang="zh-CN" altLang="en-US" sz="2400" dirty="0">
                <a:solidFill>
                  <a:srgbClr val="C00000"/>
                </a:solidFill>
              </a:rPr>
              <a:t>）和残差（</a:t>
            </a:r>
            <a:r>
              <a:rPr lang="en-US" altLang="zh-CN" sz="2400" dirty="0">
                <a:solidFill>
                  <a:srgbClr val="C00000"/>
                </a:solidFill>
              </a:rPr>
              <a:t>Error/Residual</a:t>
            </a:r>
            <a:r>
              <a:rPr lang="zh-CN" altLang="en-US" sz="2400" dirty="0">
                <a:solidFill>
                  <a:srgbClr val="C00000"/>
                </a:solidFill>
              </a:rPr>
              <a:t>）</a:t>
            </a:r>
            <a:r>
              <a:rPr lang="zh-CN" altLang="en-US" sz="2400" dirty="0">
                <a:solidFill>
                  <a:schemeClr val="tx1"/>
                </a:solidFill>
              </a:rPr>
              <a:t>。如果在扩散模型的去噪网络中显式地嵌入这种</a:t>
            </a:r>
            <a:r>
              <a:rPr lang="zh-CN" altLang="en-US" sz="2400" dirty="0">
                <a:solidFill>
                  <a:srgbClr val="C00000"/>
                </a:solidFill>
              </a:rPr>
              <a:t>分解架构</a:t>
            </a:r>
            <a:r>
              <a:rPr lang="zh-CN" altLang="en-US" sz="2400" dirty="0">
                <a:solidFill>
                  <a:schemeClr val="tx1"/>
                </a:solidFill>
              </a:rPr>
              <a:t>，不仅能帮助模型更好地从噪声中恢复信号，还能赋予模型可解释性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750" y="2955290"/>
            <a:ext cx="8318500" cy="3564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3.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算法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" y="1771650"/>
            <a:ext cx="8201660" cy="46018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588375" y="3482340"/>
            <a:ext cx="36036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B: Batch Size (</a:t>
            </a:r>
            <a:r>
              <a:rPr lang="zh-CN" altLang="en-US"/>
              <a:t>批量大小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L: Sequence Length (</a:t>
            </a:r>
            <a:r>
              <a:rPr lang="zh-CN" altLang="en-US"/>
              <a:t>时间序列长度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K: Feature Size (</a:t>
            </a:r>
            <a:r>
              <a:rPr lang="zh-CN" altLang="en-US"/>
              <a:t>原始特征维度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D: Model Dimension (Transformer </a:t>
            </a:r>
            <a:r>
              <a:rPr lang="zh-CN" altLang="en-US"/>
              <a:t>隐藏层维度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Layers: Decoder </a:t>
            </a:r>
            <a:r>
              <a:rPr lang="zh-CN" altLang="en-US"/>
              <a:t>层数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3.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算法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" y="1445260"/>
            <a:ext cx="8206740" cy="51752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400" y="394970"/>
            <a:ext cx="7200900" cy="876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3.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算法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1261110" y="1558290"/>
            <a:ext cx="3603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Trend Synthetic Layer (</a:t>
            </a:r>
            <a:r>
              <a:rPr lang="zh-CN" altLang="en-US"/>
              <a:t>趋势层</a:t>
            </a:r>
            <a:r>
              <a:rPr lang="en-US" altLang="zh-CN"/>
              <a:t>)：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110" y="2247900"/>
            <a:ext cx="3469005" cy="37541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555" y="2625090"/>
            <a:ext cx="5131435" cy="889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211445" y="1558290"/>
            <a:ext cx="6130290" cy="1066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它的本质是一个基于神经网络的</a:t>
            </a:r>
            <a:r>
              <a:rPr lang="zh-CN" altLang="en-US">
                <a:solidFill>
                  <a:srgbClr val="C00000"/>
                </a:solidFill>
              </a:rPr>
              <a:t>限制最高阶数的动态多项式回归器</a:t>
            </a:r>
            <a:r>
              <a:rPr lang="en-US" altLang="zh-CN"/>
              <a:t>。它不是直接预测数值，而是预测多项式的系数，然后利用这些系数画出一条</a:t>
            </a:r>
            <a:r>
              <a:rPr lang="en-US" altLang="zh-CN">
                <a:solidFill>
                  <a:srgbClr val="C00000"/>
                </a:solidFill>
              </a:rPr>
              <a:t>低频的</a:t>
            </a:r>
            <a:r>
              <a:rPr lang="zh-CN" altLang="en-US"/>
              <a:t>平滑曲线</a:t>
            </a:r>
            <a:r>
              <a:rPr lang="en-US" altLang="zh-CN"/>
              <a:t>。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3.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算法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1261110" y="1558290"/>
            <a:ext cx="4326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Fourier Synthetic Layer (</a:t>
            </a:r>
            <a:r>
              <a:rPr lang="zh-CN" altLang="en-US"/>
              <a:t>傅里叶层</a:t>
            </a:r>
            <a:r>
              <a:rPr lang="en-US" altLang="zh-CN"/>
              <a:t>)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110" y="2087245"/>
            <a:ext cx="2902585" cy="43351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56250" y="1584960"/>
            <a:ext cx="5796915" cy="1844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</a:t>
            </a:r>
            <a:r>
              <a:rPr lang="zh-CN" altLang="en-US"/>
              <a:t>对输入进行傅里叶变换</a:t>
            </a:r>
            <a:r>
              <a:rPr lang="en-US" altLang="zh-CN"/>
              <a:t> (FFT) </a:t>
            </a:r>
            <a:r>
              <a:rPr lang="zh-CN" altLang="en-US"/>
              <a:t>转换到频域。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选择振幅最大的前</a:t>
            </a:r>
            <a:r>
              <a:rPr lang="en-US" altLang="zh-CN"/>
              <a:t>K</a:t>
            </a:r>
            <a:r>
              <a:rPr lang="zh-CN" altLang="en-US"/>
              <a:t>个频率分量</a:t>
            </a:r>
            <a:r>
              <a:rPr lang="en-US" altLang="zh-CN"/>
              <a:t> (Top-K Selecting)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使用逆傅里叶变换</a:t>
            </a:r>
            <a:r>
              <a:rPr lang="en-US" altLang="zh-CN"/>
              <a:t> (IFFT) </a:t>
            </a:r>
            <a:r>
              <a:rPr lang="zh-CN" altLang="en-US"/>
              <a:t>将这些主要频率分量还原回时域，形成周期性信号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3.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算法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1261110" y="1558290"/>
            <a:ext cx="4326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Fourier Synthetic Layer (</a:t>
            </a:r>
            <a:r>
              <a:rPr lang="zh-CN" altLang="en-US"/>
              <a:t>傅里叶层</a:t>
            </a:r>
            <a:r>
              <a:rPr lang="en-US" altLang="zh-CN"/>
              <a:t>)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985" y="1558290"/>
            <a:ext cx="9313545" cy="33889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85" y="5187950"/>
            <a:ext cx="10366375" cy="14516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735" y="1983740"/>
            <a:ext cx="3030855" cy="9867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07365" y="49244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为什么要引入权重</a:t>
            </a:r>
            <a:r>
              <a:rPr lang="en-US" altLang="zh-CN">
                <a:solidFill>
                  <a:srgbClr val="C00000"/>
                </a:solidFill>
              </a:rPr>
              <a:t>W</a:t>
            </a:r>
            <a:r>
              <a:rPr lang="zh-CN" altLang="en-US"/>
              <a:t>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3.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算法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1261110" y="1558290"/>
            <a:ext cx="10142855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如何迁移到其他任务</a:t>
            </a:r>
            <a:r>
              <a:rPr lang="en-US" altLang="zh-CN" sz="3200"/>
              <a:t>？   </a:t>
            </a:r>
            <a:r>
              <a:rPr lang="zh-CN" altLang="en-US" sz="3200">
                <a:solidFill>
                  <a:srgbClr val="C00000"/>
                </a:solidFill>
              </a:rPr>
              <a:t>基于重建的采样引导</a:t>
            </a:r>
            <a:endParaRPr lang="zh-CN" altLang="en-US" sz="3200"/>
          </a:p>
          <a:p>
            <a:endParaRPr lang="zh-CN" altLang="en-US"/>
          </a:p>
          <a:p>
            <a:r>
              <a:rPr lang="zh-CN" altLang="en-US"/>
              <a:t>核心思想是：</a:t>
            </a:r>
            <a:r>
              <a:rPr lang="en-US" altLang="zh-CN"/>
              <a:t>“</a:t>
            </a:r>
            <a:r>
              <a:rPr lang="zh-CN" altLang="en-US"/>
              <a:t>训练时无条件（</a:t>
            </a:r>
            <a:r>
              <a:rPr lang="en-US" altLang="zh-CN"/>
              <a:t>Unconditional</a:t>
            </a:r>
            <a:r>
              <a:rPr lang="zh-CN" altLang="en-US"/>
              <a:t>），推理时加条件（</a:t>
            </a:r>
            <a:r>
              <a:rPr lang="en-US" altLang="zh-CN"/>
              <a:t>Conditional</a:t>
            </a:r>
            <a:r>
              <a:rPr lang="zh-CN" altLang="en-US"/>
              <a:t>）</a:t>
            </a:r>
            <a:r>
              <a:rPr lang="en-US" altLang="zh-CN"/>
              <a:t>”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110" y="2962910"/>
            <a:ext cx="9711690" cy="23672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5330190"/>
            <a:ext cx="5410200" cy="1295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4645572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4.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创新点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499745" y="2065020"/>
            <a:ext cx="4087495" cy="3095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a.</a:t>
            </a:r>
            <a:r>
              <a:rPr lang="zh-CN" altLang="en-US" dirty="0"/>
              <a:t>架构创新</a:t>
            </a:r>
            <a:r>
              <a:rPr lang="en-US" altLang="zh-CN" dirty="0"/>
              <a:t>: </a:t>
            </a:r>
            <a:r>
              <a:rPr lang="zh-CN" altLang="en-US" dirty="0"/>
              <a:t>提出了基于</a:t>
            </a:r>
            <a:r>
              <a:rPr lang="en-US" altLang="zh-CN" dirty="0"/>
              <a:t> Transformer </a:t>
            </a:r>
            <a:r>
              <a:rPr lang="zh-CN" altLang="en-US" dirty="0"/>
              <a:t>的分解解码器。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b.</a:t>
            </a:r>
            <a:r>
              <a:rPr lang="zh-CN" altLang="en-US" dirty="0"/>
              <a:t>损失函数</a:t>
            </a:r>
            <a:r>
              <a:rPr lang="en-US" altLang="zh-CN" dirty="0"/>
              <a:t>: </a:t>
            </a:r>
            <a:r>
              <a:rPr lang="zh-CN" altLang="en-US" dirty="0"/>
              <a:t>引入</a:t>
            </a:r>
            <a:r>
              <a:rPr lang="en-US" altLang="zh-CN" dirty="0"/>
              <a:t> Fourier-based Loss </a:t>
            </a:r>
            <a:r>
              <a:rPr lang="zh-CN" altLang="en-US" dirty="0"/>
              <a:t>辅助扩散模型训练。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c.</a:t>
            </a:r>
            <a:r>
              <a:rPr lang="zh-CN" altLang="en-US" dirty="0"/>
              <a:t>任务通用性</a:t>
            </a:r>
            <a:r>
              <a:rPr lang="en-US" altLang="zh-CN" dirty="0"/>
              <a:t>: </a:t>
            </a:r>
            <a:r>
              <a:rPr lang="zh-CN" altLang="en-US" dirty="0"/>
              <a:t>通过基于重建的采样引导（</a:t>
            </a:r>
            <a:r>
              <a:rPr lang="en-US" altLang="zh-CN" dirty="0"/>
              <a:t>Reconstruction-based sampling</a:t>
            </a:r>
            <a:r>
              <a:rPr lang="zh-CN" altLang="en-US" dirty="0"/>
              <a:t>），无需重新训练即可用于插补和预测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240" y="1639570"/>
            <a:ext cx="7083425" cy="3787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642429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5.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实验效果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——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无条件生成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序列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8456930" y="1490980"/>
            <a:ext cx="3235960" cy="4974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短期序列生成</a:t>
            </a:r>
            <a:r>
              <a:rPr lang="en-US" altLang="zh-CN" dirty="0"/>
              <a:t>（24）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ym typeface="+mn-ea"/>
              </a:rPr>
              <a:t>Context-FID</a:t>
            </a:r>
            <a:r>
              <a:rPr lang="en-US" altLang="zh-CN" dirty="0"/>
              <a:t>: </a:t>
            </a:r>
            <a:r>
              <a:rPr lang="zh-CN" altLang="en-US" dirty="0"/>
              <a:t>衡量生成数据分布与真实数据分布在高维特征空间中的距离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Correlational Score: </a:t>
            </a:r>
            <a:r>
              <a:rPr lang="zh-CN" altLang="en-US" dirty="0"/>
              <a:t>衡量生成数据是否捕捉到了变量间的相互依赖关系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Discriminative Score：</a:t>
            </a:r>
            <a:r>
              <a:rPr lang="zh-CN" altLang="en-US" dirty="0"/>
              <a:t>衡量生成数据的逼真程度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Predictive Score：</a:t>
            </a:r>
            <a:r>
              <a:rPr lang="zh-CN" altLang="en-US" dirty="0"/>
              <a:t>衡量生成数据的实用性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" y="1469390"/>
            <a:ext cx="7767320" cy="5101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642429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5.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实验效果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——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无条件生成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序列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8034655" y="1594485"/>
            <a:ext cx="3658870" cy="4974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/>
              <a:t>长期序列生成</a:t>
            </a:r>
            <a:r>
              <a:rPr lang="en-US" altLang="zh-CN" dirty="0"/>
              <a:t>（64，128，256）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" y="1490980"/>
            <a:ext cx="7535545" cy="5057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241" y="714704"/>
            <a:ext cx="11193517" cy="683172"/>
            <a:chOff x="499241" y="672662"/>
            <a:chExt cx="11193517" cy="683172"/>
          </a:xfrm>
        </p:grpSpPr>
        <p:sp>
          <p:nvSpPr>
            <p:cNvPr id="4" name="文本框 3"/>
            <p:cNvSpPr txBox="1"/>
            <p:nvPr/>
          </p:nvSpPr>
          <p:spPr>
            <a:xfrm>
              <a:off x="1261241" y="672662"/>
              <a:ext cx="642429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5.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实验效果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——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EBE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微软雅黑"/>
                  <a:cs typeface="Times New Roman" panose="02020503050405090304" pitchFamily="18" charset="0"/>
                </a:rPr>
                <a:t>有条件插补和预测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EBE"/>
                </a:solidFill>
                <a:effectLst/>
                <a:uLnTx/>
                <a:uFillTx/>
                <a:latin typeface="Times New Roman" panose="02020503050405090304" pitchFamily="18" charset="0"/>
                <a:ea typeface="微软雅黑"/>
                <a:cs typeface="Times New Roman" panose="02020503050405090304" pitchFamily="18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499241" y="1355834"/>
              <a:ext cx="11193517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" y="1489710"/>
            <a:ext cx="9506585" cy="2559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25" y="4031615"/>
            <a:ext cx="9449435" cy="2606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603612" y="4315870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spc="600" dirty="0">
                <a:solidFill>
                  <a:schemeClr val="bg1"/>
                </a:solidFill>
                <a:latin typeface="HGB8_CNKI" pitchFamily="2" charset="-122"/>
                <a:ea typeface="HGB8_CNKI" pitchFamily="2" charset="-122"/>
                <a:cs typeface="经典特宋简" panose="02010609010101010101" pitchFamily="49" charset="-122"/>
              </a:rPr>
              <a:t>THANKS</a:t>
            </a:r>
            <a:r>
              <a:rPr lang="zh-CN" altLang="en-US" sz="3600" b="1" spc="600" dirty="0">
                <a:solidFill>
                  <a:schemeClr val="bg1"/>
                </a:solidFill>
                <a:latin typeface="HGB8_CNKI" pitchFamily="2" charset="-122"/>
                <a:ea typeface="HGB8_CNKI" pitchFamily="2" charset="-122"/>
                <a:cs typeface="经典特宋简" panose="02010609010101010101" pitchFamily="49" charset="-122"/>
              </a:rPr>
              <a:t>！</a:t>
            </a:r>
            <a:endParaRPr lang="zh-CN" altLang="en-US" sz="3600" b="1" spc="600" dirty="0">
              <a:solidFill>
                <a:schemeClr val="bg1"/>
              </a:solidFill>
              <a:latin typeface="HGB8_CNKI" pitchFamily="2" charset="-122"/>
              <a:ea typeface="HGB8_CNKI" pitchFamily="2" charset="-122"/>
              <a:cs typeface="经典特宋简" panose="02010609010101010101" pitchFamily="49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656521" y="5279645"/>
            <a:ext cx="917050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PP_MARK_KEY" val="6c6a38b3-98a1-4aa1-9515-fa69792ff306"/>
  <p:tag name="COMMONDATA" val="eyJoZGlkIjoiMzNlZWEwMzdhNzM2NWRhMWZkN2Q3MjJiODAwMTAyYzUifQ=="/>
</p:tagLst>
</file>

<file path=ppt/theme/theme1.xml><?xml version="1.0" encoding="utf-8"?>
<a:theme xmlns:a="http://schemas.openxmlformats.org/drawingml/2006/main" name="Office 主题​​">
  <a:themeElements>
    <a:clrScheme name="蓝色简洁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6EBE"/>
      </a:accent1>
      <a:accent2>
        <a:srgbClr val="006EBE"/>
      </a:accent2>
      <a:accent3>
        <a:srgbClr val="006EBE"/>
      </a:accent3>
      <a:accent4>
        <a:srgbClr val="006EBE"/>
      </a:accent4>
      <a:accent5>
        <a:srgbClr val="006EBE"/>
      </a:accent5>
      <a:accent6>
        <a:srgbClr val="006EBE"/>
      </a:accent6>
      <a:hlink>
        <a:srgbClr val="006EBE"/>
      </a:hlink>
      <a:folHlink>
        <a:srgbClr val="006EBE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西财蓝色简洁论文答辩PPT模板</Template>
  <TotalTime>0</TotalTime>
  <Words>1476</Words>
  <Application>WPS 文字</Application>
  <PresentationFormat>宽屏</PresentationFormat>
  <Paragraphs>118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汉仪旗黑</vt:lpstr>
      <vt:lpstr>Times New Roman</vt:lpstr>
      <vt:lpstr>HGB8_CNKI</vt:lpstr>
      <vt:lpstr>苹方-简</vt:lpstr>
      <vt:lpstr>微软雅黑</vt:lpstr>
      <vt:lpstr>DengXian</vt:lpstr>
      <vt:lpstr>汉仪中等线KW</vt:lpstr>
      <vt:lpstr>经典特宋简</vt:lpstr>
      <vt:lpstr>汉仪书宋二KW</vt:lpstr>
      <vt:lpstr>宋体</vt:lpstr>
      <vt:lpstr>Arial Unicode MS</vt:lpstr>
      <vt:lpstr>Calibri</vt:lpstr>
      <vt:lpstr>Helvetica Neue</vt:lpstr>
      <vt:lpstr>DengXian</vt:lpstr>
      <vt:lpstr>HGB8_CNKI</vt:lpstr>
      <vt:lpstr>微软雅黑</vt:lpstr>
      <vt:lpstr>经典特宋简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Vivienne</dc:creator>
  <cp:lastModifiedBy>Garlic</cp:lastModifiedBy>
  <cp:revision>505</cp:revision>
  <dcterms:created xsi:type="dcterms:W3CDTF">2026-01-13T16:56:59Z</dcterms:created>
  <dcterms:modified xsi:type="dcterms:W3CDTF">2026-01-13T16:56:59Z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EAAF427365E74388A1D61DEB17320914</vt:lpwstr>
  </property>
  <property fmtid="{D5CDD505-2E9C-101B-9397-08002B2CF9AE}" pid="3" name="KSOProductBuildVer">
    <vt:lpwstr>2052-12.1.24031.24031</vt:lpwstr>
  </property>
</Properties>
</file>