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403" r:id="rId3"/>
    <p:sldId id="453" r:id="rId5"/>
    <p:sldId id="455" r:id="rId6"/>
    <p:sldId id="463" r:id="rId7"/>
    <p:sldId id="464" r:id="rId8"/>
    <p:sldId id="472" r:id="rId9"/>
    <p:sldId id="456" r:id="rId10"/>
    <p:sldId id="465" r:id="rId11"/>
    <p:sldId id="457" r:id="rId12"/>
    <p:sldId id="269" r:id="rId13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熊 林博" initials="熊林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96CF"/>
    <a:srgbClr val="006EBE"/>
    <a:srgbClr val="8DDEE3"/>
    <a:srgbClr val="E29C5C"/>
    <a:srgbClr val="33CCCC"/>
    <a:srgbClr val="DF9FDC"/>
    <a:srgbClr val="E9753B"/>
    <a:srgbClr val="FBECA3"/>
    <a:srgbClr val="F6D4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99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912" y="1288"/>
      </p:cViewPr>
      <p:guideLst>
        <p:guide orient="horz" pos="208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/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73" b="21529"/>
          <a:stretch>
            <a:fillRect/>
          </a:stretch>
        </p:blipFill>
        <p:spPr>
          <a:xfrm>
            <a:off x="0" y="0"/>
            <a:ext cx="12192000" cy="38862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3860800"/>
            <a:ext cx="12192000" cy="299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0" y="0"/>
            <a:ext cx="12192000" cy="38608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63" y="397256"/>
            <a:ext cx="2440437" cy="579888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3850105"/>
            <a:ext cx="12192000" cy="86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209104" y="171996"/>
            <a:ext cx="11741596" cy="64881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，</a:t>
            </a:r>
            <a:endParaRPr lang="zh-CN" altLang="en-US" dirty="0"/>
          </a:p>
        </p:txBody>
      </p:sp>
      <p:sp>
        <p:nvSpPr>
          <p:cNvPr id="9" name="TextBox 64"/>
          <p:cNvSpPr txBox="1"/>
          <p:nvPr userDrawn="1"/>
        </p:nvSpPr>
        <p:spPr>
          <a:xfrm>
            <a:off x="1271964" y="574328"/>
            <a:ext cx="1598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200" b="1" spc="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6" y="519765"/>
            <a:ext cx="759594" cy="759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209104" y="171996"/>
            <a:ext cx="11741596" cy="64881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，</a:t>
            </a:r>
            <a:endParaRPr lang="zh-CN" altLang="en-US" dirty="0"/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6" y="519765"/>
            <a:ext cx="759594" cy="759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209104" y="171996"/>
            <a:ext cx="11741596" cy="64881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，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6" y="519765"/>
            <a:ext cx="759594" cy="75959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0212" y="576882"/>
            <a:ext cx="10515600" cy="578151"/>
          </a:xfrm>
        </p:spPr>
        <p:txBody>
          <a:bodyPr>
            <a:noAutofit/>
          </a:bodyPr>
          <a:lstStyle>
            <a:lvl1pPr>
              <a:defRPr sz="3200" b="1" spc="6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20340"/>
            <a:ext cx="12192635" cy="1417320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445266" y="2898256"/>
            <a:ext cx="1134999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Times New Roman" panose="02020503050405090304" pitchFamily="18" charset="0"/>
                <a:ea typeface="HGB8_CNKI" pitchFamily="2" charset="-122"/>
                <a:cs typeface="Times New Roman" panose="02020503050405090304" pitchFamily="18" charset="0"/>
              </a:rPr>
              <a:t>GTR: Enhancing Multivariate Time Series Forecasting With Global Temporal R</a:t>
            </a:r>
            <a:r>
              <a:rPr lang="en-US" altLang="zh-CN" sz="4400" b="1" dirty="0">
                <a:solidFill>
                  <a:schemeClr val="bg1"/>
                </a:solidFill>
                <a:latin typeface="Times New Roman" panose="02020503050405090304" pitchFamily="18" charset="0"/>
                <a:ea typeface="HGB8_CNKI" pitchFamily="2" charset="-122"/>
                <a:cs typeface="Times New Roman" panose="02020503050405090304" pitchFamily="18" charset="0"/>
              </a:rPr>
              <a:t>etrival</a:t>
            </a:r>
            <a:endParaRPr lang="en-US" altLang="zh-CN" sz="4400" b="1" dirty="0">
              <a:solidFill>
                <a:schemeClr val="bg1"/>
              </a:solidFill>
              <a:latin typeface="Times New Roman" panose="02020503050405090304" pitchFamily="18" charset="0"/>
              <a:ea typeface="HGB8_CNKI" pitchFamily="2" charset="-122"/>
              <a:cs typeface="Times New Roman" panose="0202050305040509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502920" y="4304473"/>
            <a:ext cx="11127105" cy="1079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37951" y="4530513"/>
            <a:ext cx="112922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0" i="0" u="none" strike="noStrike" baseline="0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汇报人：</a:t>
            </a:r>
            <a:r>
              <a:rPr lang="zh-CN" altLang="en-US" sz="2000" b="0" i="0" u="none" strike="noStrike" baseline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吴佳阳</a:t>
            </a:r>
            <a:endParaRPr lang="zh-CN" altLang="en-US" sz="2000" b="0" i="0" u="none" strike="noStrike" baseline="0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4149" y="5145001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2026.3.24</a:t>
            </a:r>
            <a:endParaRPr lang="en-US" altLang="zh-CN" sz="2000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76146" y="743941"/>
            <a:ext cx="11039707" cy="1583189"/>
            <a:chOff x="576146" y="743941"/>
            <a:chExt cx="11039707" cy="1583189"/>
          </a:xfrm>
        </p:grpSpPr>
        <p:sp>
          <p:nvSpPr>
            <p:cNvPr id="2" name="TextBox 1"/>
            <p:cNvSpPr txBox="1"/>
            <p:nvPr/>
          </p:nvSpPr>
          <p:spPr>
            <a:xfrm>
              <a:off x="1283895" y="743941"/>
              <a:ext cx="72467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611120" y="1193165"/>
              <a:ext cx="7431405" cy="11339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0" algn="just">
                <a:lnSpc>
                  <a:spcPct val="150000"/>
                </a:lnSpc>
                <a:buFont typeface="Arial" panose="020B0604020202090204" pitchFamily="34" charset="0"/>
                <a:buNone/>
              </a:pPr>
              <a:endPara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indent="0" algn="just">
                <a:lnSpc>
                  <a:spcPct val="150000"/>
                </a:lnSpc>
                <a:buFont typeface="Arial" panose="020B0604020202090204" pitchFamily="34" charset="0"/>
                <a:buNone/>
              </a:pPr>
              <a:endPara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76146" y="1371600"/>
              <a:ext cx="1103970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1283895" y="783887"/>
            <a:ext cx="9882716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GTR: Enhancing Multivariate Time Series Forecasting With Global Temporal Retrival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500638" y="1446281"/>
            <a:ext cx="51477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ICLR 2026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80" y="2160905"/>
            <a:ext cx="11112500" cy="361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1.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引言</a:t>
              </a:r>
              <a:endParaRPr lang="zh-CN" altLang="en-US" sz="2800" b="1" dirty="0">
                <a:solidFill>
                  <a:srgbClr val="006EBE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499745" y="1717040"/>
            <a:ext cx="5948045" cy="4813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时间序列预测的一个基本挑战在于有效建模周期性。</a:t>
            </a:r>
            <a:endParaRPr lang="zh-CN" altLang="en-US" b="1"/>
          </a:p>
          <a:p>
            <a:endParaRPr lang="zh-CN" altLang="en-US"/>
          </a:p>
          <a:p>
            <a:r>
              <a:rPr lang="zh-CN" altLang="en-US" b="1"/>
              <a:t>现实世界的数据具有局部和全局循环</a:t>
            </a:r>
            <a:r>
              <a:rPr lang="en-US" altLang="zh-CN" b="1"/>
              <a:t>：</a:t>
            </a:r>
            <a:endParaRPr lang="en-US" altLang="en-US"/>
          </a:p>
          <a:p>
            <a:r>
              <a:rPr lang="en-US"/>
              <a:t>1.</a:t>
            </a:r>
            <a:r>
              <a:rPr lang="zh-CN" altLang="en-US">
                <a:solidFill>
                  <a:srgbClr val="FF0000"/>
                </a:solidFill>
              </a:rPr>
              <a:t>局部模式</a:t>
            </a:r>
            <a:r>
              <a:rPr lang="zh-CN" altLang="en-US"/>
              <a:t>（如每日波动）频率高，模型容易从有限的窗口中捕捉。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>
                <a:solidFill>
                  <a:srgbClr val="FF0000"/>
                </a:solidFill>
              </a:rPr>
              <a:t>全局模式</a:t>
            </a:r>
            <a:r>
              <a:rPr lang="zh-CN" altLang="en-US"/>
              <a:t>（如周、月或季节性趋势）在回溯窗口中发生频率较低，且常被非平稳现象（如极值、噪声）掩盖，因此现有模型</a:t>
            </a:r>
            <a:r>
              <a:rPr lang="zh-CN" altLang="en-US"/>
              <a:t>捕捉极具挑战性。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全局周期提供的预测信号往往比局部相邻模式更强。</a:t>
            </a:r>
            <a:endParaRPr lang="zh-CN" altLang="en-US"/>
          </a:p>
          <a:p>
            <a:r>
              <a:rPr lang="zh-CN" altLang="en-US"/>
              <a:t>由于现有方法都</a:t>
            </a:r>
            <a:r>
              <a:rPr lang="zh-CN" altLang="en-US">
                <a:solidFill>
                  <a:srgbClr val="FF0000"/>
                </a:solidFill>
              </a:rPr>
              <a:t>局限于固定的回溯窗口</a:t>
            </a:r>
            <a:r>
              <a:rPr lang="zh-CN" altLang="en-US"/>
              <a:t>，导致当真实周期远超观测历史时，</a:t>
            </a:r>
            <a:r>
              <a:rPr lang="zh-CN" altLang="en-US">
                <a:solidFill>
                  <a:srgbClr val="FF0000"/>
                </a:solidFill>
              </a:rPr>
              <a:t>全局模式对模型是不可见的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可以通过延长输入窗口的方式解决吗</a:t>
            </a:r>
            <a:r>
              <a:rPr lang="en-US" altLang="zh-CN" b="1"/>
              <a:t>？</a:t>
            </a:r>
            <a:endParaRPr lang="zh-CN" altLang="en-US"/>
          </a:p>
          <a:p>
            <a:r>
              <a:rPr lang="zh-CN" altLang="en-US"/>
              <a:t>单纯延长窗口会导致过</a:t>
            </a:r>
            <a:r>
              <a:rPr lang="zh-CN" altLang="en-US">
                <a:solidFill>
                  <a:srgbClr val="FF0000"/>
                </a:solidFill>
              </a:rPr>
              <a:t>拟合噪音</a:t>
            </a:r>
            <a:r>
              <a:rPr lang="zh-CN" altLang="en-US"/>
              <a:t>、计算</a:t>
            </a:r>
            <a:r>
              <a:rPr lang="en-US" altLang="zh-CN"/>
              <a:t>/</a:t>
            </a:r>
            <a:r>
              <a:rPr lang="zh-CN" altLang="en-US"/>
              <a:t>内存</a:t>
            </a:r>
            <a:r>
              <a:rPr lang="zh-CN" altLang="en-US">
                <a:solidFill>
                  <a:srgbClr val="FF0000"/>
                </a:solidFill>
              </a:rPr>
              <a:t>成本膨胀</a:t>
            </a:r>
            <a:r>
              <a:rPr lang="zh-CN" altLang="en-US"/>
              <a:t>，且模型难以从海量数据中区分有用信息与冗余信息。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1140" y="1558290"/>
            <a:ext cx="5111750" cy="4972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2.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动机</a:t>
              </a:r>
              <a:endParaRPr lang="zh-CN" altLang="en-US" sz="2800" b="1" dirty="0">
                <a:solidFill>
                  <a:srgbClr val="006EBE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499110" y="1558290"/>
            <a:ext cx="7043420" cy="4276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为了实现高精度的预测，模型必须能够跨越时间去</a:t>
            </a:r>
            <a:r>
              <a:rPr lang="en-US" altLang="zh-CN"/>
              <a:t>“</a:t>
            </a:r>
            <a:r>
              <a:rPr lang="zh-CN" altLang="en-US"/>
              <a:t>看见</a:t>
            </a:r>
            <a:r>
              <a:rPr lang="en-US" altLang="zh-CN"/>
              <a:t>”</a:t>
            </a:r>
            <a:r>
              <a:rPr lang="zh-CN" altLang="en-US"/>
              <a:t>并利用这些比局部数据更具信息量的</a:t>
            </a:r>
            <a:r>
              <a:rPr lang="zh-CN" altLang="en-US">
                <a:solidFill>
                  <a:srgbClr val="FF0000"/>
                </a:solidFill>
              </a:rPr>
              <a:t>全局依赖关系</a:t>
            </a:r>
            <a:r>
              <a:rPr lang="en-US" altLang="zh-CN">
                <a:solidFill>
                  <a:srgbClr val="FF0000"/>
                </a:solidFill>
              </a:rPr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目前的方法（无论是使用趋势季节分解、频域分析还是</a:t>
            </a:r>
            <a:r>
              <a:rPr lang="en-US" altLang="zh-CN"/>
              <a:t>2D</a:t>
            </a:r>
            <a:r>
              <a:rPr lang="zh-CN" altLang="en-US"/>
              <a:t>特征重塑）在根本上都受制于</a:t>
            </a:r>
            <a:r>
              <a:rPr lang="zh-CN" altLang="en-US">
                <a:solidFill>
                  <a:srgbClr val="FF0000"/>
                </a:solidFill>
              </a:rPr>
              <a:t>固定的回溯窗口（</a:t>
            </a:r>
            <a:r>
              <a:rPr lang="en-US" altLang="zh-CN">
                <a:solidFill>
                  <a:srgbClr val="FF0000"/>
                </a:solidFill>
              </a:rPr>
              <a:t>look-back window）</a:t>
            </a:r>
            <a:r>
              <a:rPr lang="zh-CN" altLang="en-US"/>
              <a:t>。如果一个序列的内在周期超出了输入窗口的长度，模型就无法学到这个周期。而直接增加输入长度的暴力做法不仅会带来内存和算力的大幅飙升，还会让模型因为摄入过多无关噪音而导致过拟合，使得预测变得更不稳定</a:t>
            </a:r>
            <a:r>
              <a:rPr lang="en-US" altLang="en-US"/>
              <a:t> 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作者的直觉是：</a:t>
            </a:r>
            <a:r>
              <a:rPr lang="zh-CN" altLang="en-US"/>
              <a:t>不需要把所有的历史数据都喂给模型，而是可以单独在模型外部维护一个</a:t>
            </a:r>
            <a:r>
              <a:rPr lang="en-US" altLang="zh-CN"/>
              <a:t>“</a:t>
            </a:r>
            <a:r>
              <a:rPr lang="zh-CN" altLang="en-US"/>
              <a:t>全局周期记忆库</a:t>
            </a:r>
            <a:r>
              <a:rPr lang="en-US" altLang="zh-CN"/>
              <a:t>”</a:t>
            </a:r>
            <a:r>
              <a:rPr lang="en-US" altLang="en-US"/>
              <a:t> </a:t>
            </a:r>
            <a:r>
              <a:rPr lang="zh-CN" altLang="en-US"/>
              <a:t>。当一个短序列输入时，只要知道它在整个大周期中的</a:t>
            </a:r>
            <a:r>
              <a:rPr lang="zh-CN" altLang="en-US">
                <a:solidFill>
                  <a:srgbClr val="FF0000"/>
                </a:solidFill>
              </a:rPr>
              <a:t>绝对时间位置</a:t>
            </a:r>
            <a:r>
              <a:rPr lang="zh-CN" altLang="en-US"/>
              <a:t>，就可以去记忆库里把对应的全局周期规律提取出来，将它</a:t>
            </a:r>
            <a:r>
              <a:rPr lang="zh-CN" altLang="en-US">
                <a:solidFill>
                  <a:srgbClr val="FF0000"/>
                </a:solidFill>
              </a:rPr>
              <a:t>与当前的局部输入合并</a:t>
            </a:r>
            <a:r>
              <a:rPr lang="zh-CN" altLang="en-US"/>
              <a:t>，从而让短视角的模型瞬间拥有全局视野</a:t>
            </a:r>
            <a:r>
              <a:rPr lang="en-US" altLang="en-US"/>
              <a:t> 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885" y="1423035"/>
            <a:ext cx="4217670" cy="26695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135" y="4062095"/>
            <a:ext cx="4122420" cy="2578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3.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方法</a:t>
              </a:r>
              <a:endParaRPr lang="zh-CN" altLang="en-US" sz="2800" b="1" dirty="0">
                <a:solidFill>
                  <a:srgbClr val="006EBE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5" y="1703070"/>
            <a:ext cx="2107565" cy="44424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740" y="466090"/>
            <a:ext cx="8837930" cy="35477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885" y="4153535"/>
            <a:ext cx="7620000" cy="23876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2927350" y="2112010"/>
            <a:ext cx="1598295" cy="1586865"/>
          </a:xfrm>
          <a:prstGeom prst="roundRect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633845" y="2112010"/>
            <a:ext cx="2106930" cy="1586865"/>
          </a:xfrm>
          <a:prstGeom prst="roundRect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885" y="4241165"/>
            <a:ext cx="7505700" cy="130810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4883785" y="2143125"/>
            <a:ext cx="1226820" cy="1475105"/>
          </a:xfrm>
          <a:prstGeom prst="roundRect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6146800" y="741680"/>
            <a:ext cx="715645" cy="963295"/>
          </a:xfrm>
          <a:prstGeom prst="roundRect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4185" y="4241165"/>
            <a:ext cx="7518400" cy="13462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4185" y="4229100"/>
            <a:ext cx="7569200" cy="160020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8737600" y="2216150"/>
            <a:ext cx="2204720" cy="1431290"/>
          </a:xfrm>
          <a:prstGeom prst="roundRect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6885" y="4229100"/>
            <a:ext cx="7556500" cy="2286000"/>
          </a:xfrm>
          <a:prstGeom prst="rect">
            <a:avLst/>
          </a:prstGeom>
        </p:spPr>
      </p:pic>
      <p:sp>
        <p:nvSpPr>
          <p:cNvPr id="20" name="圆角矩形 19"/>
          <p:cNvSpPr/>
          <p:nvPr/>
        </p:nvSpPr>
        <p:spPr>
          <a:xfrm>
            <a:off x="8825230" y="639445"/>
            <a:ext cx="1343025" cy="1065530"/>
          </a:xfrm>
          <a:prstGeom prst="roundRect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0" grpId="1" animBg="1"/>
      <p:bldP spid="11" grpId="1" animBg="1"/>
      <p:bldP spid="10" grpId="2" animBg="1"/>
      <p:bldP spid="11" grpId="2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8" grpId="0" animBg="1"/>
      <p:bldP spid="18" grpId="1" animBg="1"/>
      <p:bldP spid="18" grpId="2" animBg="1"/>
      <p:bldP spid="20" grpId="0" animBg="1"/>
      <p:bldP spid="20" grpId="1" animBg="1"/>
      <p:bldP spid="20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4.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结果</a:t>
              </a:r>
              <a:endParaRPr lang="zh-CN" altLang="en-US" sz="2800" b="1" dirty="0">
                <a:solidFill>
                  <a:srgbClr val="006EBE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110" y="12816840"/>
            <a:ext cx="10672445" cy="57480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1457960"/>
            <a:ext cx="11668760" cy="2917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4.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结果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10" y="1485265"/>
            <a:ext cx="11676380" cy="3294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4.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结果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635" y="1467485"/>
            <a:ext cx="6861810" cy="5087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5.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改进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499110" y="1689735"/>
            <a:ext cx="59690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用多个谐波组合的方式替代全局周期查询矩阵</a:t>
            </a:r>
            <a:r>
              <a:rPr lang="en-US" altLang="zh-CN" b="1"/>
              <a:t>Q,</a:t>
            </a:r>
            <a:r>
              <a:rPr lang="zh-CN" altLang="en-US" b="1"/>
              <a:t>并且加入了对基准时间进行自适应的微调，以应对相位偏移问题。</a:t>
            </a:r>
            <a:endParaRPr lang="zh-CN" altLang="en-US" b="1"/>
          </a:p>
          <a:p>
            <a:endParaRPr lang="en-US" altLang="zh-CN"/>
          </a:p>
          <a:p>
            <a:r>
              <a:rPr lang="en-US" altLang="zh-CN">
                <a:solidFill>
                  <a:srgbClr val="FF0000"/>
                </a:solidFill>
              </a:rPr>
              <a:t>1.</a:t>
            </a:r>
            <a:r>
              <a:rPr lang="zh-CN" altLang="en-US">
                <a:solidFill>
                  <a:srgbClr val="FF0000"/>
                </a:solidFill>
              </a:rPr>
              <a:t>引入了时间连续性与平滑先验</a:t>
            </a:r>
            <a:r>
              <a:rPr lang="en-US" altLang="zh-CN"/>
              <a:t>：</a:t>
            </a:r>
            <a:r>
              <a:rPr lang="zh-CN" altLang="en-US"/>
              <a:t>自然界的周期性时间序列（如温度、光伏太阳能、交通流）在本质上是连续且平滑的波动。傅里叶级数（谐波）天然具备这种连续性和平滑性。使用傅里叶级数生成</a:t>
            </a:r>
            <a:r>
              <a:rPr lang="zh-CN" altLang="en-US"/>
              <a:t>的周期表，等于给模型注入了强大的物理先验知识：时间序列应该是平滑演进的。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2.</a:t>
            </a:r>
            <a:r>
              <a:rPr lang="zh-CN" altLang="en-US">
                <a:solidFill>
                  <a:srgbClr val="FF0000"/>
                </a:solidFill>
              </a:rPr>
              <a:t>动态相位对齐，缓解非平稳的时间偏移</a:t>
            </a:r>
            <a:r>
              <a:rPr lang="en-US" altLang="zh-CN"/>
              <a:t>：</a:t>
            </a:r>
            <a:r>
              <a:rPr lang="zh-CN" altLang="en-US"/>
              <a:t>允许模型在检索全局记忆时，对基准时间进行自适应的微调（偏移）。这意味着如果今天的周期因为某种非平稳扰动发生了一点时间平移，模型可以通过学习到的相位偏移进行动态纠正，让局部数据和全局规律对齐得更加精准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8110" y="1558290"/>
            <a:ext cx="5227955" cy="2058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603612" y="4315870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spc="600" dirty="0">
                <a:solidFill>
                  <a:schemeClr val="bg1"/>
                </a:solidFill>
                <a:latin typeface="HGB8_CNKI" pitchFamily="2" charset="-122"/>
                <a:ea typeface="HGB8_CNKI" pitchFamily="2" charset="-122"/>
                <a:cs typeface="经典特宋简" panose="02010609010101010101" pitchFamily="49" charset="-122"/>
              </a:rPr>
              <a:t>THANKS</a:t>
            </a:r>
            <a:r>
              <a:rPr lang="zh-CN" altLang="en-US" sz="3600" b="1" spc="600" dirty="0">
                <a:solidFill>
                  <a:schemeClr val="bg1"/>
                </a:solidFill>
                <a:latin typeface="HGB8_CNKI" pitchFamily="2" charset="-122"/>
                <a:ea typeface="HGB8_CNKI" pitchFamily="2" charset="-122"/>
                <a:cs typeface="经典特宋简" panose="02010609010101010101" pitchFamily="49" charset="-122"/>
              </a:rPr>
              <a:t>！</a:t>
            </a:r>
            <a:endParaRPr lang="zh-CN" altLang="en-US" sz="3600" b="1" spc="600" dirty="0">
              <a:solidFill>
                <a:schemeClr val="bg1"/>
              </a:solidFill>
              <a:latin typeface="HGB8_CNKI" pitchFamily="2" charset="-122"/>
              <a:ea typeface="HGB8_CNKI" pitchFamily="2" charset="-122"/>
              <a:cs typeface="经典特宋简" panose="02010609010101010101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656521" y="5279645"/>
            <a:ext cx="917050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PP_MARK_KEY" val="6c6a38b3-98a1-4aa1-9515-fa69792ff306"/>
  <p:tag name="COMMONDATA" val="eyJoZGlkIjoiMzNlZWEwMzdhNzM2NWRhMWZkN2Q3MjJiODAwMTAyYzUifQ=="/>
</p:tagLst>
</file>

<file path=ppt/theme/theme1.xml><?xml version="1.0" encoding="utf-8"?>
<a:theme xmlns:a="http://schemas.openxmlformats.org/drawingml/2006/main" name="Office 主题​​">
  <a:themeElements>
    <a:clrScheme name="蓝色简洁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6EBE"/>
      </a:accent1>
      <a:accent2>
        <a:srgbClr val="006EBE"/>
      </a:accent2>
      <a:accent3>
        <a:srgbClr val="006EBE"/>
      </a:accent3>
      <a:accent4>
        <a:srgbClr val="006EBE"/>
      </a:accent4>
      <a:accent5>
        <a:srgbClr val="006EBE"/>
      </a:accent5>
      <a:accent6>
        <a:srgbClr val="006EBE"/>
      </a:accent6>
      <a:hlink>
        <a:srgbClr val="006EBE"/>
      </a:hlink>
      <a:folHlink>
        <a:srgbClr val="006EBE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西财蓝色简洁论文答辩PPT模板</Template>
  <TotalTime>0</TotalTime>
  <Words>1134</Words>
  <Application>WPS 演示</Application>
  <PresentationFormat>宽屏</PresentationFormat>
  <Paragraphs>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</vt:lpstr>
      <vt:lpstr>Times New Roman</vt:lpstr>
      <vt:lpstr>HGB8_CNKI</vt:lpstr>
      <vt:lpstr>苹方-简</vt:lpstr>
      <vt:lpstr>微软雅黑</vt:lpstr>
      <vt:lpstr>经典特宋简</vt:lpstr>
      <vt:lpstr>汉仪书宋二KW</vt:lpstr>
      <vt:lpstr>宋体</vt:lpstr>
      <vt:lpstr>Arial Unicode MS</vt:lpstr>
      <vt:lpstr>Calibri</vt:lpstr>
      <vt:lpstr>Helvetica Neue</vt:lpstr>
      <vt:lpstr>HGB8_CNKI</vt:lpstr>
      <vt:lpstr>微软雅黑</vt:lpstr>
      <vt:lpstr>经典特宋简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Vivienne</dc:creator>
  <cp:lastModifiedBy>Garlic</cp:lastModifiedBy>
  <cp:revision>510</cp:revision>
  <dcterms:created xsi:type="dcterms:W3CDTF">2026-03-24T08:10:29Z</dcterms:created>
  <dcterms:modified xsi:type="dcterms:W3CDTF">2026-03-24T08:10:29Z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EAAF427365E74388A1D61DEB17320914</vt:lpwstr>
  </property>
  <property fmtid="{D5CDD505-2E9C-101B-9397-08002B2CF9AE}" pid="3" name="KSOProductBuildVer">
    <vt:lpwstr>2052-12.1.24031.24031</vt:lpwstr>
  </property>
</Properties>
</file>